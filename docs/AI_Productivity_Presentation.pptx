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88"/>
  </p:normalViewPr>
  <p:slideViewPr>
    <p:cSldViewPr snapToGrid="0" snapToObjects="1">
      <p:cViewPr varScale="1">
        <p:scale>
          <a:sx n="116" d="100"/>
          <a:sy n="116" d="100"/>
        </p:scale>
        <p:origin x="5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785723" y="2430959"/>
            <a:ext cx="8620245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/>
              <a:t>AI-Powered Extension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199" y="5341441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69696"/>
                </a:solidFill>
              </a:defRPr>
            </a:pPr>
            <a:r>
              <a:rPr dirty="0"/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Before AI: Traditional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1737360" cy="914400"/>
          </a:xfrm>
          <a:prstGeom prst="roundRect">
            <a:avLst/>
          </a:prstGeom>
          <a:solidFill>
            <a:srgbClr val="0070C0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1. Receive</a:t>
            </a:r>
            <a:br/>
            <a:r>
              <a:t>Request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057400" y="1691640"/>
            <a:ext cx="182880" cy="27432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194560" y="1371600"/>
            <a:ext cx="1737360" cy="914400"/>
          </a:xfrm>
          <a:prstGeom prst="roundRect">
            <a:avLst/>
          </a:prstGeom>
          <a:solidFill>
            <a:srgbClr val="0070C0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rPr dirty="0"/>
              <a:t>2. Manual Log</a:t>
            </a:r>
            <a:br>
              <a:rPr dirty="0"/>
            </a:br>
            <a:r>
              <a:rPr dirty="0"/>
              <a:t>Analysis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977639" y="1691640"/>
            <a:ext cx="182880" cy="27432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114800" y="1371600"/>
            <a:ext cx="1737360" cy="914400"/>
          </a:xfrm>
          <a:prstGeom prst="roundRect">
            <a:avLst/>
          </a:prstGeom>
          <a:solidFill>
            <a:srgbClr val="0070C0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rPr dirty="0"/>
              <a:t>3. Schema</a:t>
            </a:r>
            <a:br>
              <a:rPr dirty="0"/>
            </a:br>
            <a:r>
              <a:rPr dirty="0"/>
              <a:t>Verification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897880" y="1691640"/>
            <a:ext cx="182880" cy="27432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035040" y="1371600"/>
            <a:ext cx="1737360" cy="914400"/>
          </a:xfrm>
          <a:prstGeom prst="roundRect">
            <a:avLst/>
          </a:prstGeom>
          <a:solidFill>
            <a:srgbClr val="0070C0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rPr dirty="0"/>
              <a:t>4. Compare with</a:t>
            </a:r>
            <a:br>
              <a:rPr dirty="0"/>
            </a:br>
            <a:r>
              <a:rPr dirty="0"/>
              <a:t>Vendor Docs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18120" y="1691640"/>
            <a:ext cx="182880" cy="27432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955280" y="1371600"/>
            <a:ext cx="1737360" cy="914400"/>
          </a:xfrm>
          <a:prstGeom prst="roundRect">
            <a:avLst/>
          </a:prstGeom>
          <a:solidFill>
            <a:srgbClr val="0070C0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rPr dirty="0"/>
              <a:t>5. Manual Use Case</a:t>
            </a:r>
            <a:br>
              <a:rPr dirty="0"/>
            </a:br>
            <a:r>
              <a:rPr dirty="0"/>
              <a:t>Development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738360" y="1691640"/>
            <a:ext cx="182880" cy="27432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875520" y="1371600"/>
            <a:ext cx="1737360" cy="914400"/>
          </a:xfrm>
          <a:prstGeom prst="roundRect">
            <a:avLst/>
          </a:prstGeom>
          <a:solidFill>
            <a:srgbClr val="0070C0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rPr dirty="0"/>
              <a:t>6. Testing &amp;</a:t>
            </a:r>
            <a:br>
              <a:rPr dirty="0"/>
            </a:br>
            <a:r>
              <a:rPr dirty="0"/>
              <a:t>Deploy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5377314"/>
              </p:ext>
            </p:extLst>
          </p:nvPr>
        </p:nvGraphicFramePr>
        <p:xfrm>
          <a:off x="274320" y="25603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Activity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Pain Points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Log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rPr lang="en-US" dirty="0"/>
                        <a:t>1-2 Days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rPr dirty="0"/>
                        <a:t>Manual parsing, pattern identification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Vendor Doc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rPr lang="en-US" dirty="0"/>
                        <a:t>1 Days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rPr dirty="0"/>
                        <a:t>Cross-referencing, schema mapping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Schema Verification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rPr lang="en-US" dirty="0"/>
                        <a:t>2-3 Hours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Field-by-field comparison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Use Case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rPr lang="en-US" dirty="0"/>
                        <a:t>1-2 Days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Manual rule creation, testing iterations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rPr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rPr lang="en-US" dirty="0"/>
                        <a:t>Testing &amp; Deployment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rPr lang="en-US" dirty="0"/>
                        <a:t>1-2 Days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rPr lang="en-US" dirty="0"/>
                        <a:t>Manual Testing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8686800" y="2560320"/>
            <a:ext cx="3200400" cy="914400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rPr dirty="0"/>
              <a:t>Total Time:</a:t>
            </a:r>
            <a:br>
              <a:rPr dirty="0"/>
            </a:br>
            <a:r>
              <a:rPr lang="en-US" dirty="0"/>
              <a:t>1-2 weeks 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274320" y="5029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Key Bottlenecks: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53949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95959"/>
                </a:solidFill>
              </a:defRPr>
            </a:pPr>
            <a:r>
              <a:t>❌ Repetitive manual analysis for each data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53949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95959"/>
                </a:solidFill>
              </a:defRPr>
            </a:pPr>
            <a:r>
              <a:t>❌ High cognitive load for schema comparison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57607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95959"/>
                </a:solidFill>
              </a:defRPr>
            </a:pPr>
            <a:r>
              <a:t>❌ Error-prone manual rule development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57607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95959"/>
                </a:solidFill>
              </a:defRPr>
            </a:pPr>
            <a:r>
              <a:t>❌ Limited scalability with increasing requests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After AI: Streamlined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011680" cy="1005840"/>
          </a:xfrm>
          <a:prstGeom prst="roundRect">
            <a:avLst/>
          </a:prstGeom>
          <a:solidFill>
            <a:srgbClr val="0070C0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200"/>
              </a:spcBef>
              <a:defRPr sz="1300" b="1">
                <a:solidFill>
                  <a:srgbClr val="FFFFFF"/>
                </a:solidFill>
              </a:defRPr>
            </a:pPr>
            <a:r>
              <a:t>Vendor Docs +</a:t>
            </a:r>
            <a:br/>
            <a:r>
              <a:t>Sample Logs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14600" y="1737360"/>
            <a:ext cx="274320" cy="27432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743200" y="1371600"/>
            <a:ext cx="2011680" cy="1005840"/>
          </a:xfrm>
          <a:prstGeom prst="roundRect">
            <a:avLst/>
          </a:prstGeom>
          <a:solidFill>
            <a:srgbClr val="00B050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200"/>
              </a:spcBef>
              <a:defRPr sz="1300" b="1">
                <a:solidFill>
                  <a:srgbClr val="FFFFFF"/>
                </a:solidFill>
              </a:defRPr>
            </a:pPr>
            <a:r>
              <a:t>AI Analysis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00600" y="1737360"/>
            <a:ext cx="274320" cy="27432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0" y="1371600"/>
            <a:ext cx="2011680" cy="1005840"/>
          </a:xfrm>
          <a:prstGeom prst="roundRect">
            <a:avLst/>
          </a:prstGeom>
          <a:solidFill>
            <a:srgbClr val="00B050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200"/>
              </a:spcBef>
              <a:defRPr sz="1300" b="1">
                <a:solidFill>
                  <a:srgbClr val="FFFFFF"/>
                </a:solidFill>
              </a:defRPr>
            </a:pPr>
            <a:r>
              <a:t>Alert Suggestions +</a:t>
            </a:r>
            <a:br/>
            <a:r>
              <a:t>Important Fields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86600" y="1737360"/>
            <a:ext cx="274320" cy="27432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0" y="1371600"/>
            <a:ext cx="2011680" cy="1005840"/>
          </a:xfrm>
          <a:prstGeom prst="roundRect">
            <a:avLst/>
          </a:prstGeom>
          <a:solidFill>
            <a:srgbClr val="FF9900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200"/>
              </a:spcBef>
              <a:defRPr sz="1300" b="1">
                <a:solidFill>
                  <a:srgbClr val="FFFFFF"/>
                </a:solidFill>
              </a:defRPr>
            </a:pPr>
            <a:r>
              <a:t>Manual</a:t>
            </a:r>
            <a:br/>
            <a:r>
              <a:t>Verification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72600" y="1737360"/>
            <a:ext cx="274320" cy="27432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601200" y="1371600"/>
            <a:ext cx="2011680" cy="1005840"/>
          </a:xfrm>
          <a:prstGeom prst="roundRect">
            <a:avLst/>
          </a:prstGeom>
          <a:solidFill>
            <a:srgbClr val="0070C0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200"/>
              </a:spcBef>
              <a:defRPr sz="1300" b="1">
                <a:solidFill>
                  <a:srgbClr val="FFFFFF"/>
                </a:solidFill>
              </a:defRPr>
            </a:pPr>
            <a:r>
              <a:rPr lang="en-US" dirty="0"/>
              <a:t>Use Case Development</a:t>
            </a:r>
            <a:endParaRPr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086469"/>
              </p:ext>
            </p:extLst>
          </p:nvPr>
        </p:nvGraphicFramePr>
        <p:xfrm>
          <a:off x="274320" y="2651760"/>
          <a:ext cx="822960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Activity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AI Contribution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rPr dirty="0"/>
                        <a:t>Input Collection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rPr dirty="0"/>
                        <a:t>30 </a:t>
                      </a:r>
                      <a:r>
                        <a:rPr lang="en-US" dirty="0"/>
                        <a:t>– 45 </a:t>
                      </a:r>
                      <a:r>
                        <a:rPr dirty="0"/>
                        <a:t>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rPr dirty="0"/>
                        <a:t>Vendor docs + sample logs </a:t>
                      </a:r>
                      <a:r>
                        <a:rPr lang="en-US" dirty="0"/>
                        <a:t>using AI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rPr dirty="0"/>
                        <a:t>AI Analysis</a:t>
                      </a:r>
                      <a:r>
                        <a:rPr lang="en-US" dirty="0"/>
                        <a:t> 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rPr lang="en-US" dirty="0"/>
                        <a:t>10-15</a:t>
                      </a:r>
                      <a:r>
                        <a:rPr dirty="0"/>
                        <a:t>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rPr dirty="0"/>
                        <a:t>Automated schema &amp; pattern analysis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rPr lang="en-US" dirty="0"/>
                        <a:t>3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rPr lang="en-US" dirty="0"/>
                        <a:t>Normalization/Parsing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rPr lang="en-US" dirty="0"/>
                        <a:t>NA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rPr lang="en-US" dirty="0"/>
                        <a:t>NA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910153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rPr lang="en-US" dirty="0"/>
                        <a:t>4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rPr dirty="0"/>
                        <a:t>Review Suggestions</a:t>
                      </a:r>
                      <a:r>
                        <a:rPr lang="en-US" dirty="0"/>
                        <a:t>/Verification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rPr lang="en-US" dirty="0"/>
                        <a:t>1- 2 Hour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rPr dirty="0"/>
                        <a:t>AI-generated alerts &amp; field mapping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rPr lang="en-US" dirty="0"/>
                        <a:t>5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rPr lang="en-US" dirty="0"/>
                        <a:t>Use Case Development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rPr lang="en-US" dirty="0"/>
                        <a:t>1 Day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rPr lang="en-US" dirty="0"/>
                        <a:t>Manual Development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8686800" y="2651760"/>
            <a:ext cx="3200400" cy="9144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rPr dirty="0"/>
              <a:t>Total Time:</a:t>
            </a:r>
            <a:br>
              <a:rPr dirty="0"/>
            </a:br>
            <a:r>
              <a:rPr lang="en-US" dirty="0"/>
              <a:t>2-3  Days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274320" y="5029200"/>
            <a:ext cx="129163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B050"/>
                </a:solidFill>
              </a:defRPr>
            </a:pPr>
            <a:r>
              <a:rPr dirty="0">
                <a:solidFill>
                  <a:schemeClr val="bg1"/>
                </a:solidFill>
                <a:highlight>
                  <a:srgbClr val="000080"/>
                </a:highlight>
              </a:rPr>
              <a:t>Key Benefits: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5394960"/>
            <a:ext cx="3650808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95959"/>
                </a:solidFill>
              </a:defRPr>
            </a:pPr>
            <a:r>
              <a:rPr dirty="0"/>
              <a:t>✅ log parsing</a:t>
            </a:r>
            <a:r>
              <a:rPr lang="en-US" dirty="0"/>
              <a:t> suggestions</a:t>
            </a:r>
            <a:r>
              <a:rPr dirty="0"/>
              <a:t> and schema 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53949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95959"/>
                </a:solidFill>
              </a:defRPr>
            </a:pPr>
            <a:r>
              <a:t>✅ AI-suggested use cases based on best practices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57607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95959"/>
                </a:solidFill>
              </a:defRPr>
            </a:pPr>
            <a:r>
              <a:t>✅ Consistent field identification across data sources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Summary &amp; Business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029200" cy="2103120"/>
          </a:xfrm>
          <a:prstGeom prst="roundRect">
            <a:avLst/>
          </a:prstGeom>
          <a:solidFill>
            <a:srgbClr val="FFE6E6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0000"/>
                </a:solidFill>
              </a:defRPr>
            </a:pPr>
            <a:r>
              <a:t>BEFORE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502271" cy="11695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95959"/>
                </a:solidFill>
              </a:defRPr>
            </a:pPr>
            <a:r>
              <a:rPr dirty="0"/>
              <a:t>• Manual Analysis</a:t>
            </a:r>
          </a:p>
          <a:p>
            <a:pPr>
              <a:defRPr sz="1400">
                <a:solidFill>
                  <a:srgbClr val="595959"/>
                </a:solidFill>
              </a:defRPr>
            </a:pPr>
            <a:r>
              <a:rPr dirty="0"/>
              <a:t>• Time-Intensive</a:t>
            </a:r>
          </a:p>
          <a:p>
            <a:pPr>
              <a:defRPr sz="1400">
                <a:solidFill>
                  <a:srgbClr val="595959"/>
                </a:solidFill>
              </a:defRPr>
            </a:pPr>
            <a:r>
              <a:rPr dirty="0"/>
              <a:t>• Error-Prone</a:t>
            </a:r>
          </a:p>
          <a:p>
            <a:pPr>
              <a:defRPr sz="1400">
                <a:solidFill>
                  <a:srgbClr val="595959"/>
                </a:solidFill>
              </a:defRPr>
            </a:pPr>
            <a:r>
              <a:rPr dirty="0"/>
              <a:t>• Limited Scale</a:t>
            </a:r>
          </a:p>
          <a:p>
            <a:pPr>
              <a:defRPr sz="1400">
                <a:solidFill>
                  <a:srgbClr val="595959"/>
                </a:solidFill>
              </a:defRPr>
            </a:pPr>
            <a:r>
              <a:rPr dirty="0"/>
              <a:t>• </a:t>
            </a:r>
            <a:r>
              <a:rPr lang="en-US" dirty="0"/>
              <a:t>1-2 Weeks</a:t>
            </a:r>
            <a:r>
              <a:rPr dirty="0"/>
              <a:t>/task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669280" y="2103120"/>
            <a:ext cx="822960" cy="54864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675120" y="1371600"/>
            <a:ext cx="5029200" cy="2103120"/>
          </a:xfrm>
          <a:prstGeom prst="roundRect">
            <a:avLst/>
          </a:prstGeom>
          <a:solidFill>
            <a:srgbClr val="E6FFE6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0" y="14630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B050"/>
                </a:solidFill>
              </a:defRPr>
            </a:pPr>
            <a:r>
              <a:t>AFTER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920240"/>
            <a:ext cx="1342868" cy="11695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95959"/>
                </a:solidFill>
              </a:defRPr>
            </a:pPr>
            <a:r>
              <a:rPr dirty="0"/>
              <a:t>• AI-Assisted</a:t>
            </a:r>
          </a:p>
          <a:p>
            <a:pPr>
              <a:defRPr sz="1400">
                <a:solidFill>
                  <a:srgbClr val="595959"/>
                </a:solidFill>
              </a:defRPr>
            </a:pPr>
            <a:r>
              <a:rPr dirty="0"/>
              <a:t>• Streamlined</a:t>
            </a:r>
          </a:p>
          <a:p>
            <a:pPr>
              <a:defRPr sz="1400">
                <a:solidFill>
                  <a:srgbClr val="595959"/>
                </a:solidFill>
              </a:defRPr>
            </a:pPr>
            <a:r>
              <a:rPr dirty="0"/>
              <a:t>• Consistent</a:t>
            </a:r>
          </a:p>
          <a:p>
            <a:pPr>
              <a:defRPr sz="1400">
                <a:solidFill>
                  <a:srgbClr val="595959"/>
                </a:solidFill>
              </a:defRPr>
            </a:pPr>
            <a:r>
              <a:rPr dirty="0"/>
              <a:t>• Scalable</a:t>
            </a:r>
          </a:p>
          <a:p>
            <a:pPr>
              <a:defRPr sz="1400">
                <a:solidFill>
                  <a:srgbClr val="595959"/>
                </a:solidFill>
              </a:defRPr>
            </a:pPr>
            <a:r>
              <a:rPr dirty="0"/>
              <a:t>• </a:t>
            </a:r>
            <a:r>
              <a:rPr lang="en-US" dirty="0"/>
              <a:t>2 -3 Days/</a:t>
            </a:r>
            <a:r>
              <a:rPr dirty="0"/>
              <a:t>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57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Quantitative Gains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23360"/>
            <a:ext cx="426373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rPr dirty="0"/>
              <a:t>• </a:t>
            </a:r>
            <a:r>
              <a:rPr lang="en-US" dirty="0"/>
              <a:t>30-</a:t>
            </a:r>
            <a:r>
              <a:rPr dirty="0"/>
              <a:t>40% Productivity Improvement in extension development</a:t>
            </a:r>
          </a:p>
          <a:p>
            <a:pPr>
              <a:defRPr sz="1200">
                <a:solidFill>
                  <a:srgbClr val="595959"/>
                </a:solidFill>
              </a:defRPr>
            </a:pPr>
            <a:r>
              <a:rPr dirty="0"/>
              <a:t>• 2x Throughput - Handle more requests in the same timeframe</a:t>
            </a:r>
          </a:p>
          <a:p>
            <a:pPr>
              <a:defRPr sz="1200">
                <a:solidFill>
                  <a:srgbClr val="595959"/>
                </a:solidFill>
              </a:defRPr>
            </a:pPr>
            <a:r>
              <a:rPr dirty="0"/>
              <a:t>• Faster Time-to-Value - Quicker deployment of security 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657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Qualitative Benefits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023360"/>
            <a:ext cx="391562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rPr dirty="0"/>
              <a:t>• Standardization - Consistent approach across data sources</a:t>
            </a:r>
          </a:p>
          <a:p>
            <a:pPr>
              <a:defRPr sz="1200">
                <a:solidFill>
                  <a:srgbClr val="595959"/>
                </a:solidFill>
              </a:defRPr>
            </a:pPr>
            <a:r>
              <a:rPr dirty="0"/>
              <a:t>• Knowledge Capture - AI learns from best practices</a:t>
            </a:r>
          </a:p>
          <a:p>
            <a:pPr>
              <a:defRPr sz="1200">
                <a:solidFill>
                  <a:srgbClr val="595959"/>
                </a:solidFill>
              </a:defRPr>
            </a:pPr>
            <a:r>
              <a:rPr dirty="0"/>
              <a:t>• Reduced Burnout - Less repetitive manual work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101471"/>
            <a:ext cx="11247120" cy="54864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2441184" y="5226695"/>
            <a:ext cx="7160743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dirty="0"/>
              <a:t>Workflow: Vendor Docs + Sample Logs → AI Analysis → Alert Suggestions → Manual </a:t>
            </a:r>
            <a:r>
              <a:rPr lang="en-US" dirty="0"/>
              <a:t>Development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357</Words>
  <Application>Microsoft Macintosh PowerPoint</Application>
  <PresentationFormat>Widescreen</PresentationFormat>
  <Paragraphs>96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Vaibhav Tiwari</cp:lastModifiedBy>
  <cp:revision>7</cp:revision>
  <dcterms:created xsi:type="dcterms:W3CDTF">2013-01-27T09:14:16Z</dcterms:created>
  <dcterms:modified xsi:type="dcterms:W3CDTF">2026-03-17T07:18:38Z</dcterms:modified>
  <cp:category/>
</cp:coreProperties>
</file>